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-640080"/>
            <a:ext cx="4572000" cy="4572000"/>
          </a:xfrm>
          <a:prstGeom prst="ellipse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182880"/>
            <a:ext cx="2926080" cy="2926080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914400"/>
            <a:ext cx="1463040" cy="1463040"/>
          </a:xfrm>
          <a:prstGeom prst="ellipse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2520000">
            <a:off x="8275320" y="2971800"/>
            <a:ext cx="1325880" cy="2057400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6720000">
            <a:off x="9326880" y="3246120"/>
            <a:ext cx="1234440" cy="1828800"/>
          </a:xfrm>
          <a:prstGeom prst="ellipse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3500000">
            <a:off x="10378440" y="2880360"/>
            <a:ext cx="1325880" cy="2011680"/>
          </a:xfrm>
          <a:prstGeom prst="ellipse">
            <a:avLst/>
          </a:prstGeom>
          <a:solidFill>
            <a:srgbClr val="97C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68580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BDCAD"/>
                </a:solidFill>
                <a:latin typeface="Aptos"/>
              </a:rPr>
              <a:t>ORGANIC FARMING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694944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 i="0">
                <a:solidFill>
                  <a:srgbClr val="FFFFFF"/>
                </a:solidFill>
                <a:latin typeface="Aptos"/>
              </a:rPr>
              <a:t>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06040"/>
            <a:ext cx="6217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E9EFDE"/>
                </a:solidFill>
                <a:latin typeface="Aptos"/>
              </a:rPr>
              <a:t>A MERN Stack Web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46120"/>
            <a:ext cx="914400" cy="64008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566160"/>
            <a:ext cx="60350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Connecting farmers directly with customers
for fresh organic produce.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7863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DDEC8"/>
                </a:solidFill>
                <a:latin typeface="Aptos"/>
              </a:rPr>
              <a:t>React.js  •  Node.js  •  Express.js  •  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55080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BBDCAD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6035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C412B"/>
                </a:solidFill>
                <a:latin typeface="Aptos"/>
              </a:rPr>
              <a:t>What is the Organic Farming Marketplace?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57150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B372E"/>
                </a:solidFill>
                <a:latin typeface="Aptos"/>
              </a:rPr>
              <a:t>A web-based platform designed to help farmers list and manage organic products while customers discover and purchase fresh produce.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783080"/>
            <a:ext cx="429768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95160" y="1984248"/>
            <a:ext cx="594360" cy="594360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148840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77A49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9384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FARMERS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58568"/>
            <a:ext cx="3063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B372E"/>
                </a:solidFill>
                <a:latin typeface="Aptos"/>
              </a:rPr>
              <a:t>Add and update 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08960"/>
            <a:ext cx="429768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5160" y="3310128"/>
            <a:ext cx="594360" cy="594360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474720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77A49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55264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84448"/>
            <a:ext cx="3063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B372E"/>
                </a:solidFill>
                <a:latin typeface="Aptos"/>
              </a:rPr>
              <a:t>Browse and shop produce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4434840"/>
            <a:ext cx="429768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95160" y="4636007"/>
            <a:ext cx="594360" cy="594360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800600"/>
            <a:ext cx="5943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77A49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81144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ADMIN /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10327"/>
            <a:ext cx="3063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B372E"/>
                </a:solidFill>
                <a:latin typeface="Aptos"/>
              </a:rPr>
              <a:t>Manage records and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8521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77A49"/>
                </a:solidFill>
                <a:latin typeface="Aptos"/>
              </a:rPr>
              <a:t>Core idea: make organic produce easier to discover and sell.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02 • 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C412B"/>
                </a:solidFill>
                <a:latin typeface="Aptos"/>
              </a:rPr>
              <a:t>Build a MERN-based organic farming marketplace that enables the sale and management of organic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340156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063240"/>
            <a:ext cx="3401568" cy="109728"/>
          </a:xfrm>
          <a:prstGeom prst="rect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2926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Limited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13632"/>
            <a:ext cx="28803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8776A"/>
                </a:solidFill>
                <a:latin typeface="Aptos"/>
              </a:rPr>
              <a:t>Small farmers may find it difficult to reach more customers.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3063240"/>
            <a:ext cx="340156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3063240"/>
            <a:ext cx="3401568" cy="109728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3401568"/>
            <a:ext cx="2926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Scattered product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913632"/>
            <a:ext cx="28803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8776A"/>
                </a:solidFill>
                <a:latin typeface="Aptos"/>
              </a:rPr>
              <a:t>Product names, prices and available quantities need a central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3063240"/>
            <a:ext cx="340156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3063240"/>
            <a:ext cx="3401568" cy="109728"/>
          </a:xfrm>
          <a:prstGeom prst="rect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3401568"/>
            <a:ext cx="2926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Manual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913632"/>
            <a:ext cx="28803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8776A"/>
                </a:solidFill>
                <a:latin typeface="Aptos"/>
              </a:rPr>
              <a:t>Keeping listings accurate can take time without a simple management interface.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77A49"/>
                </a:solidFill>
                <a:latin typeface="Aptos"/>
              </a:rPr>
              <a:t>Proposed solution: one platform for product listings, farmer records and customer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03 •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956815"/>
            <a:ext cx="566928" cy="566928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3886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C412B"/>
                </a:solidFill>
                <a:latin typeface="Aptos"/>
              </a:rPr>
              <a:t>Demonstrate MERN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40280"/>
            <a:ext cx="3931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8776A"/>
                </a:solidFill>
                <a:latin typeface="Aptos"/>
              </a:rPr>
              <a:t>Use MongoDB, Express.js, React.js and Node.js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956815"/>
            <a:ext cx="566928" cy="566928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3055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74519"/>
            <a:ext cx="3886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C412B"/>
                </a:solidFill>
                <a:latin typeface="Aptos"/>
              </a:rPr>
              <a:t>Implement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40280"/>
            <a:ext cx="3931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8776A"/>
                </a:solidFill>
                <a:latin typeface="Aptos"/>
              </a:rPr>
              <a:t>Create, read, update and delete marketplace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5468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3374136"/>
            <a:ext cx="566928" cy="566928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4787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91840"/>
            <a:ext cx="3886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C412B"/>
                </a:solidFill>
                <a:latin typeface="Aptos"/>
              </a:rPr>
              <a:t>Build REST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57600"/>
            <a:ext cx="3931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8776A"/>
                </a:solidFill>
                <a:latin typeface="Aptos"/>
              </a:rPr>
              <a:t>Expose structured endpoints for frontend operations.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5468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3374136"/>
            <a:ext cx="566928" cy="566928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291840"/>
            <a:ext cx="3886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C412B"/>
                </a:solidFill>
                <a:latin typeface="Aptos"/>
              </a:rPr>
              <a:t>Create React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57600"/>
            <a:ext cx="3931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8776A"/>
                </a:solidFill>
                <a:latin typeface="Aptos"/>
              </a:rPr>
              <a:t>Build clear, responsive screens for users and farmers.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57200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4791456"/>
            <a:ext cx="566928" cy="566928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96519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709160"/>
            <a:ext cx="3886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C412B"/>
                </a:solidFill>
                <a:latin typeface="Aptos"/>
              </a:rPr>
              <a:t>Add 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074920"/>
            <a:ext cx="3931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8776A"/>
                </a:solidFill>
                <a:latin typeface="Aptos"/>
              </a:rPr>
              <a:t>Support login, registration and role-based access where required.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572000"/>
            <a:ext cx="5166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0" y="4791456"/>
            <a:ext cx="566928" cy="566928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96519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709160"/>
            <a:ext cx="3886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C412B"/>
                </a:solidFill>
                <a:latin typeface="Aptos"/>
              </a:rPr>
              <a:t>Present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74920"/>
            <a:ext cx="3931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8776A"/>
                </a:solidFill>
                <a:latin typeface="Aptos"/>
              </a:rPr>
              <a:t>Show project workflow, features and outcomes clearly.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04 •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8046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68776A"/>
                </a:solidFill>
                <a:latin typeface="Aptos"/>
              </a:rPr>
              <a:t>Three layers work together to deliver the marketplace.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3017520" cy="1417320"/>
          </a:xfrm>
          <a:prstGeom prst="roundRect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2651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C412B"/>
                </a:solidFill>
                <a:latin typeface="Aptos"/>
              </a:rPr>
              <a:t>React.js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2651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Pages • Forms • Product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23160"/>
            <a:ext cx="3017520" cy="1417320"/>
          </a:xfrm>
          <a:prstGeom prst="roundRect">
            <a:avLst/>
          </a:prstGeom>
          <a:solidFill>
            <a:srgbClr val="F5E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587752"/>
            <a:ext cx="2651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C412B"/>
                </a:solidFill>
                <a:latin typeface="Aptos"/>
              </a:rPr>
              <a:t>Node.js +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55848"/>
            <a:ext cx="2651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REST APIs • Validation •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423160"/>
            <a:ext cx="3017520" cy="1417320"/>
          </a:xfrm>
          <a:prstGeom prst="roundRect">
            <a:avLst/>
          </a:prstGeom>
          <a:solidFill>
            <a:srgbClr val="E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587752"/>
            <a:ext cx="2651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77A49"/>
                </a:solidFill>
                <a:latin typeface="Aptos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926080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C412B"/>
                </a:solidFill>
                <a:latin typeface="Aptos"/>
              </a:rPr>
              <a:t>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355848"/>
            <a:ext cx="2651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Farmers • Products •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52928"/>
            <a:ext cx="822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HTTP /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85292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C412B"/>
                </a:solidFill>
                <a:latin typeface="Aptos"/>
              </a:rPr>
              <a:t>Request → API processing → Database operation →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94960"/>
            <a:ext cx="100584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8776A"/>
                </a:solidFill>
                <a:latin typeface="Aptos"/>
              </a:rPr>
              <a:t>JSON responses connect the React interface to the Express API; MongoDB stores persistent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05 • FUNCTIONAL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Key Features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16636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4663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Product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13432"/>
            <a:ext cx="4663440" cy="10515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Add a product with name, price and quantity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View and browse available products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Edit details or remove a listing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16636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4663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Farmer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313432"/>
            <a:ext cx="4663440" cy="10515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Maintain farmer profile information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Associate products with their farmer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View farmer-specific listings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516636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77640"/>
            <a:ext cx="4663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Customer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70832"/>
            <a:ext cx="4663440" cy="10515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Search and filter organic produce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View product details and pricing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Add products to a cart (optional scope)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94760"/>
            <a:ext cx="5166360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977640"/>
            <a:ext cx="4663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4370832"/>
            <a:ext cx="4663440" cy="10515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Register and log in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Separate farmer and customer roles</a:t>
            </a:r>
          </a:p>
          <a:p>
            <a:pPr>
              <a:spcAft>
                <a:spcPts val="400"/>
              </a:spcAft>
              <a:defRPr sz="1200">
                <a:solidFill>
                  <a:srgbClr val="68776A"/>
                </a:solidFill>
                <a:latin typeface="Aptos"/>
              </a:defRPr>
            </a:pPr>
            <a:r>
              <a:t>•  Protect restricted API 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06 •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Database Design (MongoDB)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657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C412B"/>
                </a:solidFill>
                <a:latin typeface="Aptos"/>
              </a:rPr>
              <a:t>Suggested collections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66294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77A49"/>
                </a:solidFill>
                <a:latin typeface="Aptos"/>
              </a:rPr>
              <a:t>Users / Farmers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4251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name • email • passwordHash • role • 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66294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1071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77A49"/>
                </a:solidFill>
                <a:latin typeface="Aptos"/>
              </a:rP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4251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name • description • category • price • quantity • farmerId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66294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6227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77A49"/>
                </a:solidFill>
                <a:latin typeface="Aptos"/>
              </a:rPr>
              <a:t>Orders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80560"/>
            <a:ext cx="4251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customerId • items • totalAmount • status • createdAt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240280"/>
            <a:ext cx="3246120" cy="2880360"/>
          </a:xfrm>
          <a:prstGeom prst="round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514600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412B"/>
                </a:solidFill>
                <a:latin typeface="Aptos"/>
              </a:rPr>
              <a:t>Important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971800"/>
            <a:ext cx="2697480" cy="182880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B372E"/>
                </a:solidFill>
                <a:latin typeface="Aptos"/>
              </a:defRPr>
            </a:pPr>
            <a:r>
              <a:t>•  Store price as a number</a:t>
            </a:r>
          </a:p>
          <a:p>
            <a:pPr>
              <a:spcAft>
                <a:spcPts val="900"/>
              </a:spcAft>
              <a:defRPr sz="1300">
                <a:solidFill>
                  <a:srgbClr val="2B372E"/>
                </a:solidFill>
                <a:latin typeface="Aptos"/>
              </a:defRPr>
            </a:pPr>
            <a:r>
              <a:t>•  Track quantity as a number</a:t>
            </a:r>
          </a:p>
          <a:p>
            <a:pPr>
              <a:spcAft>
                <a:spcPts val="900"/>
              </a:spcAft>
              <a:defRPr sz="1300">
                <a:solidFill>
                  <a:srgbClr val="2B372E"/>
                </a:solidFill>
                <a:latin typeface="Aptos"/>
              </a:defRPr>
            </a:pPr>
            <a:r>
              <a:t>•  Link each product to a farmer</a:t>
            </a:r>
          </a:p>
          <a:p>
            <a:pPr>
              <a:spcAft>
                <a:spcPts val="900"/>
              </a:spcAft>
              <a:defRPr sz="1300">
                <a:solidFill>
                  <a:srgbClr val="2B372E"/>
                </a:solidFill>
                <a:latin typeface="Aptos"/>
              </a:defRPr>
            </a:pPr>
            <a:r>
              <a:t>•  Validate required fields</a:t>
            </a:r>
          </a:p>
          <a:p>
            <a:pPr>
              <a:spcAft>
                <a:spcPts val="900"/>
              </a:spcAft>
              <a:defRPr sz="1300">
                <a:solidFill>
                  <a:srgbClr val="2B372E"/>
                </a:solidFill>
                <a:latin typeface="Aptos"/>
              </a:defRPr>
            </a:pPr>
            <a:r>
              <a:t>•  Hash passwords before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68776A"/>
                </a:solidFill>
                <a:latin typeface="Aptos"/>
              </a:rPr>
              <a:t>MongoDB documents can be validated in the API before saving or updating.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07 • BACKEND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CRUD Operations &amp; REST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828800" cy="502920"/>
          </a:xfrm>
          <a:prstGeom prst="rect">
            <a:avLst/>
          </a:prstGeom>
          <a:solidFill>
            <a:srgbClr val="1C4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79"/>
            <a:ext cx="1645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874519"/>
            <a:ext cx="1280160" cy="502920"/>
          </a:xfrm>
          <a:prstGeom prst="rect">
            <a:avLst/>
          </a:prstGeom>
          <a:solidFill>
            <a:srgbClr val="1C4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79"/>
            <a:ext cx="109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HTTP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874519"/>
            <a:ext cx="2971800" cy="502920"/>
          </a:xfrm>
          <a:prstGeom prst="rect">
            <a:avLst/>
          </a:prstGeom>
          <a:solidFill>
            <a:srgbClr val="1C4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2011679"/>
            <a:ext cx="2788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Example endpoint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874519"/>
            <a:ext cx="4114800" cy="502920"/>
          </a:xfrm>
          <a:prstGeom prst="rect">
            <a:avLst/>
          </a:prstGeom>
          <a:solidFill>
            <a:srgbClr val="1C4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59" y="2011679"/>
            <a:ext cx="3931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377439"/>
            <a:ext cx="1828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7860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CREATE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377439"/>
            <a:ext cx="1280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578608"/>
            <a:ext cx="1097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377439"/>
            <a:ext cx="2971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2578608"/>
            <a:ext cx="2788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/api/products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377439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2578608"/>
            <a:ext cx="3931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Add a new 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090672"/>
            <a:ext cx="182880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91840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READ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090672"/>
            <a:ext cx="128016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291840"/>
            <a:ext cx="1097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090672"/>
            <a:ext cx="297180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59" y="3291840"/>
            <a:ext cx="2788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/api/products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3090672"/>
            <a:ext cx="411480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59" y="3291840"/>
            <a:ext cx="3931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List products / get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03904"/>
            <a:ext cx="1828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05072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UPDATE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803904"/>
            <a:ext cx="12801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005072"/>
            <a:ext cx="1097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803904"/>
            <a:ext cx="2971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59" y="4005072"/>
            <a:ext cx="2788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/api/products/:id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803904"/>
            <a:ext cx="41148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59" y="4005072"/>
            <a:ext cx="3931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Edit product fields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517136"/>
            <a:ext cx="182880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18303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77A49"/>
                </a:solidFill>
                <a:latin typeface="Aptos"/>
              </a:rPr>
              <a:t>DELETE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4517136"/>
            <a:ext cx="128016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718303"/>
            <a:ext cx="1097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DELETE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4517136"/>
            <a:ext cx="297180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59" y="4718303"/>
            <a:ext cx="2788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/api/products/:id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4517136"/>
            <a:ext cx="4114800" cy="713232"/>
          </a:xfrm>
          <a:prstGeom prst="rect">
            <a:avLst/>
          </a:prstGeom>
          <a:solidFill>
            <a:srgbClr val="E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59" y="4718303"/>
            <a:ext cx="3931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72E"/>
                </a:solidFill>
                <a:latin typeface="Aptos"/>
              </a:rPr>
              <a:t>Remove a product listing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48640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C412B"/>
                </a:solidFill>
                <a:latin typeface="Aptos"/>
              </a:rPr>
              <a:t>API quality 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468112"/>
            <a:ext cx="8412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8776A"/>
                </a:solidFill>
                <a:latin typeface="Aptos"/>
              </a:rPr>
              <a:t>Input validation • meaningful status codes • error handling • authentication on protected routes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08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User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965960"/>
            <a:ext cx="640080" cy="640080"/>
          </a:xfrm>
          <a:prstGeom prst="ellipse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6736" y="216712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43200"/>
            <a:ext cx="16916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C412B"/>
                </a:solidFill>
                <a:latin typeface="Aptos"/>
              </a:rPr>
              <a:t>Register / Log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83280"/>
            <a:ext cx="1691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User chooses a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5" y="288036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77A4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7" y="233172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8455" y="1965960"/>
            <a:ext cx="640080" cy="640080"/>
          </a:xfrm>
          <a:prstGeom prst="ellipse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5" y="216712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7" y="2743200"/>
            <a:ext cx="16916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C412B"/>
                </a:solidFill>
                <a:latin typeface="Aptos"/>
              </a:rPr>
              <a:t>Manage / Browse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3383280"/>
            <a:ext cx="1691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Farmer lists products; customer explores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288036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77A4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7" y="233172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0175" y="1965960"/>
            <a:ext cx="640080" cy="640080"/>
          </a:xfrm>
          <a:prstGeom prst="ellipse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0175" y="216712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743200"/>
            <a:ext cx="16916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C412B"/>
                </a:solidFill>
                <a:latin typeface="Aptos"/>
              </a:rPr>
              <a:t>API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383280"/>
            <a:ext cx="1691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React sends a request to 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5" y="288036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77A49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53527" y="233172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11896" y="1965960"/>
            <a:ext cx="640080" cy="640080"/>
          </a:xfrm>
          <a:prstGeom prst="ellipse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16712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2743200"/>
            <a:ext cx="16916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C412B"/>
                </a:solidFill>
                <a:latin typeface="Aptos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383280"/>
            <a:ext cx="1691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MongoDB reads or updates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288036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77A49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85248" y="2331720"/>
            <a:ext cx="19659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43616" y="1965960"/>
            <a:ext cx="640080" cy="640080"/>
          </a:xfrm>
          <a:prstGeom prst="ellipse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3616" y="216712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743200"/>
            <a:ext cx="16916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C412B"/>
                </a:solidFill>
                <a:latin typeface="Aptos"/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3383280"/>
            <a:ext cx="16916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8776A"/>
                </a:solidFill>
                <a:latin typeface="Aptos"/>
              </a:rPr>
              <a:t>UI displays updated product information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77A49"/>
                </a:solidFill>
                <a:latin typeface="Aptos"/>
              </a:rPr>
              <a:t>Access is role-based: farmers manage their own listings; customers use the shopping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09 • RESPONSIBLE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Authentication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412B"/>
                </a:solidFill>
                <a:latin typeface="Aptos"/>
              </a:rPr>
              <a:t>Password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3063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8776A"/>
                </a:solidFill>
                <a:latin typeface="Aptos"/>
              </a:rPr>
              <a:t>Hash passwords with a suitable password-hashing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1874519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039112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412B"/>
                </a:solidFill>
                <a:latin typeface="Aptos"/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23160"/>
            <a:ext cx="3063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8776A"/>
                </a:solidFill>
                <a:latin typeface="Aptos"/>
              </a:rPr>
              <a:t>Use a session or token-based approach to verify logged-in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1874519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2039112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412B"/>
                </a:solidFill>
                <a:latin typeface="Aptos"/>
              </a:rPr>
              <a:t>Role-based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423160"/>
            <a:ext cx="3063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8776A"/>
                </a:solidFill>
                <a:latin typeface="Aptos"/>
              </a:rPr>
              <a:t>Authorize farmer-only product management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74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639312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412B"/>
                </a:solidFill>
                <a:latin typeface="Aptos"/>
              </a:rPr>
              <a:t>Data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23359"/>
            <a:ext cx="3063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8776A"/>
                </a:solidFill>
                <a:latin typeface="Aptos"/>
              </a:rPr>
              <a:t>Validate product name, price, quantity and identifiers.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0288" y="3474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639312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412B"/>
                </a:solidFill>
                <a:latin typeface="Aptos"/>
              </a:rPr>
              <a:t>Error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59"/>
            <a:ext cx="3063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8776A"/>
                </a:solidFill>
                <a:latin typeface="Aptos"/>
              </a:rPr>
              <a:t>Return useful status codes without exposing secrets.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47472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3639312"/>
            <a:ext cx="3108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412B"/>
                </a:solidFill>
                <a:latin typeface="Aptos"/>
              </a:rPr>
              <a:t>Ownership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4023359"/>
            <a:ext cx="30632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8776A"/>
                </a:solidFill>
                <a:latin typeface="Aptos"/>
              </a:rPr>
              <a:t>Ensure a farmer can update or delete only permitted listings.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77A49"/>
                </a:solidFill>
                <a:latin typeface="Aptos"/>
              </a:rPr>
              <a:t>Security should be enforced by the backend—not only by hiding buttons in the frontend.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77A49"/>
                </a:solidFill>
                <a:latin typeface="Aptos"/>
              </a:rPr>
              <a:t>10 •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C412B"/>
                </a:solidFill>
                <a:latin typeface="Aptos"/>
              </a:rPr>
              <a:t>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49808" cy="50292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8776A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8776A"/>
                </a:solidFill>
                <a:latin typeface="Aptos"/>
              </a:rPr>
              <a:t>ORGANIC FARMING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766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C412B"/>
                </a:solidFill>
                <a:latin typeface="Aptos"/>
              </a:rPr>
              <a:t>The completed project should demonstrate: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6583680" cy="329184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B372E"/>
                </a:solidFill>
                <a:latin typeface="Aptos"/>
              </a:defRPr>
            </a:pPr>
            <a:r>
              <a:t>•  A working React interface for browsing and managing products</a:t>
            </a:r>
          </a:p>
          <a:p>
            <a:pPr>
              <a:spcAft>
                <a:spcPts val="1100"/>
              </a:spcAft>
              <a:defRPr sz="1700">
                <a:solidFill>
                  <a:srgbClr val="2B372E"/>
                </a:solidFill>
                <a:latin typeface="Aptos"/>
              </a:defRPr>
            </a:pPr>
            <a:r>
              <a:t>•  REST APIs for creating, reading, updating and deleting records</a:t>
            </a:r>
          </a:p>
          <a:p>
            <a:pPr>
              <a:spcAft>
                <a:spcPts val="1100"/>
              </a:spcAft>
              <a:defRPr sz="1700">
                <a:solidFill>
                  <a:srgbClr val="2B372E"/>
                </a:solidFill>
                <a:latin typeface="Aptos"/>
              </a:defRPr>
            </a:pPr>
            <a:r>
              <a:t>•  MongoDB persistence for product, farmer and user data</a:t>
            </a:r>
          </a:p>
          <a:p>
            <a:pPr>
              <a:spcAft>
                <a:spcPts val="1100"/>
              </a:spcAft>
              <a:defRPr sz="1700">
                <a:solidFill>
                  <a:srgbClr val="2B372E"/>
                </a:solidFill>
                <a:latin typeface="Aptos"/>
              </a:defRPr>
            </a:pPr>
            <a:r>
              <a:t>•  Authentication with farmer/customer role checks</a:t>
            </a:r>
          </a:p>
          <a:p>
            <a:pPr>
              <a:spcAft>
                <a:spcPts val="1100"/>
              </a:spcAft>
              <a:defRPr sz="1700">
                <a:solidFill>
                  <a:srgbClr val="2B372E"/>
                </a:solidFill>
                <a:latin typeface="Aptos"/>
              </a:defRPr>
            </a:pPr>
            <a:r>
              <a:t>•  Clear validation and error feedback</a:t>
            </a:r>
          </a:p>
          <a:p>
            <a:pPr>
              <a:spcAft>
                <a:spcPts val="1100"/>
              </a:spcAft>
              <a:defRPr sz="1700">
                <a:solidFill>
                  <a:srgbClr val="2B372E"/>
                </a:solidFill>
                <a:latin typeface="Aptos"/>
              </a:defRPr>
            </a:pPr>
            <a:r>
              <a:t>•  A maintainable full-stack project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057400"/>
            <a:ext cx="3108960" cy="2880360"/>
          </a:xfrm>
          <a:prstGeom prst="roundRect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77A49"/>
                </a:solidFill>
                <a:latin typeface="Aptos"/>
              </a:rPr>
              <a:t>SUCCESS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971800"/>
            <a:ext cx="2560320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1C412B"/>
                </a:solidFill>
                <a:latin typeface="Aptos"/>
              </a:rPr>
              <a:t>Reliable CRUD
+ clear UI
+ secure access
+ persistent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607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8776A"/>
                </a:solidFill>
                <a:latin typeface="Aptos"/>
              </a:rPr>
              <a:t>Note: these are target outcomes; actual results should be confirmed after implementation and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548640"/>
            <a:ext cx="4023360" cy="4023360"/>
          </a:xfrm>
          <a:prstGeom prst="ellipse">
            <a:avLst/>
          </a:prstGeom>
          <a:solidFill>
            <a:srgbClr val="377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320040"/>
            <a:ext cx="2468880" cy="2468880"/>
          </a:xfrm>
          <a:prstGeom prst="ellipse">
            <a:avLst/>
          </a:prstGeom>
          <a:solidFill>
            <a:srgbClr val="DE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960120"/>
            <a:ext cx="1188720" cy="1188720"/>
          </a:xfrm>
          <a:prstGeom prst="ellipse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BDCAD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685800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 digital bridge
from farm to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337560"/>
            <a:ext cx="786384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E8EFDE"/>
                </a:solidFill>
                <a:latin typeface="Aptos"/>
              </a:rPr>
              <a:t>The Organic Farming Marketplace applies MERN stack technologies to organize product listings, manage data and support direct access between farmers and customers.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4800600"/>
            <a:ext cx="960120" cy="64008"/>
          </a:xfrm>
          <a:prstGeom prst="rect">
            <a:avLst/>
          </a:prstGeom>
          <a:solidFill>
            <a:srgbClr val="DAA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212080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BBDCAD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760720"/>
            <a:ext cx="3840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